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7ED9F-4A29-4FEE-8447-F7E05CED7A8B}" type="datetimeFigureOut">
              <a:rPr lang="en-US" smtClean="0"/>
              <a:t>06-Jun-26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4F776C9-7844-4819-B94C-BF24F05920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1536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7ED9F-4A29-4FEE-8447-F7E05CED7A8B}" type="datetimeFigureOut">
              <a:rPr lang="en-US" smtClean="0"/>
              <a:t>06-Jun-26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776C9-7844-4819-B94C-BF24F05920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3940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7ED9F-4A29-4FEE-8447-F7E05CED7A8B}" type="datetimeFigureOut">
              <a:rPr lang="en-US" smtClean="0"/>
              <a:t>06-Jun-26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4F776C9-7844-4819-B94C-BF24F05920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4571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7ED9F-4A29-4FEE-8447-F7E05CED7A8B}" type="datetimeFigureOut">
              <a:rPr lang="en-US" smtClean="0"/>
              <a:t>06-Jun-26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4F776C9-7844-4819-B94C-BF24F05920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0638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7ED9F-4A29-4FEE-8447-F7E05CED7A8B}" type="datetimeFigureOut">
              <a:rPr lang="en-US" smtClean="0"/>
              <a:t>06-Jun-26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4F776C9-7844-4819-B94C-BF24F05920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4526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7ED9F-4A29-4FEE-8447-F7E05CED7A8B}" type="datetimeFigureOut">
              <a:rPr lang="en-US" smtClean="0"/>
              <a:t>06-Jun-26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776C9-7844-4819-B94C-BF24F05920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0730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7ED9F-4A29-4FEE-8447-F7E05CED7A8B}" type="datetimeFigureOut">
              <a:rPr lang="en-US" smtClean="0"/>
              <a:t>06-Jun-26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776C9-7844-4819-B94C-BF24F05920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1193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7ED9F-4A29-4FEE-8447-F7E05CED7A8B}" type="datetimeFigureOut">
              <a:rPr lang="en-US" smtClean="0"/>
              <a:t>06-Jun-26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776C9-7844-4819-B94C-BF24F05920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9401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7ED9F-4A29-4FEE-8447-F7E05CED7A8B}" type="datetimeFigureOut">
              <a:rPr lang="en-US" smtClean="0"/>
              <a:t>06-Jun-26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4F776C9-7844-4819-B94C-BF24F05920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7226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7ED9F-4A29-4FEE-8447-F7E05CED7A8B}" type="datetimeFigureOut">
              <a:rPr lang="en-US" smtClean="0"/>
              <a:t>06-Jun-26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4F776C9-7844-4819-B94C-BF24F05920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7947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7ED9F-4A29-4FEE-8447-F7E05CED7A8B}" type="datetimeFigureOut">
              <a:rPr lang="en-US" smtClean="0"/>
              <a:t>06-Jun-26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4F776C9-7844-4819-B94C-BF24F0592015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958960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7ED9F-4A29-4FEE-8447-F7E05CED7A8B}" type="datetimeFigureOut">
              <a:rPr lang="en-US" smtClean="0"/>
              <a:t>06-Jun-26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4F776C9-7844-4819-B94C-BF24F05920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864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7ED9F-4A29-4FEE-8447-F7E05CED7A8B}" type="datetimeFigureOut">
              <a:rPr lang="en-US" smtClean="0"/>
              <a:t>06-Jun-26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4F776C9-7844-4819-B94C-BF24F0592015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21169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7ED9F-4A29-4FEE-8447-F7E05CED7A8B}" type="datetimeFigureOut">
              <a:rPr lang="en-US" smtClean="0"/>
              <a:t>06-Jun-26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4F776C9-7844-4819-B94C-BF24F05920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9514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7ED9F-4A29-4FEE-8447-F7E05CED7A8B}" type="datetimeFigureOut">
              <a:rPr lang="en-US" smtClean="0"/>
              <a:t>06-Jun-26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776C9-7844-4819-B94C-BF24F05920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5163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7ED9F-4A29-4FEE-8447-F7E05CED7A8B}" type="datetimeFigureOut">
              <a:rPr lang="en-US" smtClean="0"/>
              <a:t>06-Jun-26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776C9-7844-4819-B94C-BF24F05920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9853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0"/>
            <a:ext cx="2356674" cy="6853283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1" name="Freeform 27"/>
            <p:cNvSpPr/>
            <p:nvPr/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17ED9F-4A29-4FEE-8447-F7E05CED7A8B}" type="datetimeFigureOut">
              <a:rPr lang="en-US" smtClean="0"/>
              <a:t>06-Jun-26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4F776C9-7844-4819-B94C-BF24F05920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4425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</p:sldLayoutIdLst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24818" y="1007771"/>
            <a:ext cx="8915399" cy="226278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Customer Lifetime Value Prediction Using Machine Learning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2846234"/>
          </a:xfrm>
        </p:spPr>
        <p:txBody>
          <a:bodyPr>
            <a:normAutofit/>
          </a:bodyPr>
          <a:lstStyle/>
          <a:p>
            <a:r>
              <a:rPr lang="en-US" b="1" dirty="0"/>
              <a:t>Submitted By:</a:t>
            </a:r>
          </a:p>
          <a:p>
            <a:r>
              <a:rPr lang="en-US" dirty="0" err="1" smtClean="0"/>
              <a:t>Mahuya</a:t>
            </a:r>
            <a:r>
              <a:rPr lang="en-US" dirty="0" smtClean="0"/>
              <a:t> Ghosh</a:t>
            </a:r>
            <a:endParaRPr lang="en-US" dirty="0"/>
          </a:p>
          <a:p>
            <a:r>
              <a:rPr lang="en-US" b="1" dirty="0"/>
              <a:t>Project Type:</a:t>
            </a:r>
          </a:p>
          <a:p>
            <a:r>
              <a:rPr lang="en-US" dirty="0"/>
              <a:t>Minor Project</a:t>
            </a:r>
          </a:p>
          <a:p>
            <a:r>
              <a:rPr lang="en-US" b="1" dirty="0"/>
              <a:t>Tools Used:</a:t>
            </a:r>
          </a:p>
          <a:p>
            <a:r>
              <a:rPr lang="en-US" dirty="0"/>
              <a:t>Python | </a:t>
            </a:r>
            <a:r>
              <a:rPr lang="en-US" dirty="0" err="1"/>
              <a:t>Jupyter</a:t>
            </a:r>
            <a:r>
              <a:rPr lang="en-US" dirty="0"/>
              <a:t> Notebook | Machine Learning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0292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684481"/>
            <a:ext cx="9144000" cy="1466291"/>
          </a:xfrm>
        </p:spPr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588654"/>
            <a:ext cx="9144000" cy="3103808"/>
          </a:xfrm>
        </p:spPr>
        <p:txBody>
          <a:bodyPr>
            <a:normAutofit/>
          </a:bodyPr>
          <a:lstStyle/>
          <a:p>
            <a:r>
              <a:rPr lang="en-US" dirty="0" smtClean="0"/>
              <a:t>Customer Lifetime Value (CLV) is the total revenue a business expects to earn from a customer during their relationship with the company.</a:t>
            </a:r>
          </a:p>
          <a:p>
            <a:r>
              <a:rPr lang="en-US" dirty="0" smtClean="0"/>
              <a:t>Importance of CLV:</a:t>
            </a:r>
            <a:br>
              <a:rPr lang="en-US" dirty="0" smtClean="0"/>
            </a:br>
            <a:r>
              <a:rPr lang="en-US" dirty="0" smtClean="0"/>
              <a:t>• Identifies high-value customers</a:t>
            </a:r>
            <a:br>
              <a:rPr lang="en-US" dirty="0" smtClean="0"/>
            </a:br>
            <a:r>
              <a:rPr lang="en-US" dirty="0" smtClean="0"/>
              <a:t>• Improves customer retention</a:t>
            </a:r>
            <a:br>
              <a:rPr lang="en-US" dirty="0" smtClean="0"/>
            </a:br>
            <a:r>
              <a:rPr lang="en-US" dirty="0" smtClean="0"/>
              <a:t>• Helps optimize marketing expenditure</a:t>
            </a:r>
            <a:br>
              <a:rPr lang="en-US" dirty="0" smtClean="0"/>
            </a:br>
            <a:r>
              <a:rPr lang="en-US" dirty="0" smtClean="0"/>
              <a:t>• Supports revenue forecasting</a:t>
            </a:r>
            <a:br>
              <a:rPr lang="en-US" dirty="0" smtClean="0"/>
            </a:br>
            <a:r>
              <a:rPr lang="en-US" dirty="0" smtClean="0"/>
              <a:t>• Assists in customer segmentation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640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75389"/>
            <a:ext cx="9144000" cy="1440533"/>
          </a:xfrm>
        </p:spPr>
        <p:txBody>
          <a:bodyPr>
            <a:normAutofit/>
          </a:bodyPr>
          <a:lstStyle/>
          <a:p>
            <a:r>
              <a:rPr lang="en-US" dirty="0" smtClean="0"/>
              <a:t>PROBLEM STATEMENT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53047"/>
            <a:ext cx="9144000" cy="3618963"/>
          </a:xfrm>
        </p:spPr>
        <p:txBody>
          <a:bodyPr/>
          <a:lstStyle/>
          <a:p>
            <a:r>
              <a:rPr lang="en-US" dirty="0" smtClean="0"/>
              <a:t>Businesses often have thousands of customers and limited marketing resources.</a:t>
            </a:r>
          </a:p>
          <a:p>
            <a:r>
              <a:rPr lang="en-US" dirty="0" smtClean="0"/>
              <a:t>Problem:</a:t>
            </a:r>
            <a:br>
              <a:rPr lang="en-US" dirty="0" smtClean="0"/>
            </a:br>
            <a:r>
              <a:rPr lang="en-US" dirty="0" smtClean="0"/>
              <a:t>How can a business identify which customers are likely to generate the highest revenue in the future?</a:t>
            </a:r>
          </a:p>
          <a:p>
            <a:r>
              <a:rPr lang="en-US" dirty="0" smtClean="0"/>
              <a:t>Solution:</a:t>
            </a:r>
            <a:br>
              <a:rPr lang="en-US" dirty="0" smtClean="0"/>
            </a:br>
            <a:r>
              <a:rPr lang="en-US" dirty="0" smtClean="0"/>
              <a:t>Use Machine Learning to predict Customer Lifetime Value based on customer purchasing behavior.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16994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85986"/>
          </a:xfrm>
        </p:spPr>
        <p:txBody>
          <a:bodyPr/>
          <a:lstStyle/>
          <a:p>
            <a:r>
              <a:rPr lang="en-US" dirty="0" smtClean="0"/>
              <a:t>PROJECT OBJECTIVES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859109"/>
            <a:ext cx="9144000" cy="3412901"/>
          </a:xfrm>
        </p:spPr>
        <p:txBody>
          <a:bodyPr/>
          <a:lstStyle/>
          <a:p>
            <a:r>
              <a:rPr lang="en-US" dirty="0" smtClean="0"/>
              <a:t>The main objectives of this project are:</a:t>
            </a:r>
          </a:p>
          <a:p>
            <a:r>
              <a:rPr lang="en-US" dirty="0" smtClean="0"/>
              <a:t>• Analyze customer transaction data</a:t>
            </a:r>
            <a:br>
              <a:rPr lang="en-US" dirty="0" smtClean="0"/>
            </a:br>
            <a:r>
              <a:rPr lang="en-US" dirty="0" smtClean="0"/>
              <a:t>• Calculate customer purchasing metrics</a:t>
            </a:r>
            <a:br>
              <a:rPr lang="en-US" dirty="0" smtClean="0"/>
            </a:br>
            <a:r>
              <a:rPr lang="en-US" dirty="0" smtClean="0"/>
              <a:t>• Build a machine learning model</a:t>
            </a:r>
            <a:br>
              <a:rPr lang="en-US" dirty="0" smtClean="0"/>
            </a:br>
            <a:r>
              <a:rPr lang="en-US" dirty="0" smtClean="0"/>
              <a:t>• Predict Customer Lifetime Value</a:t>
            </a:r>
            <a:br>
              <a:rPr lang="en-US" dirty="0" smtClean="0"/>
            </a:br>
            <a:r>
              <a:rPr lang="en-US" dirty="0" smtClean="0"/>
              <a:t>• Evaluate model performance</a:t>
            </a:r>
            <a:br>
              <a:rPr lang="en-US" dirty="0" smtClean="0"/>
            </a:br>
            <a:r>
              <a:rPr lang="en-US" dirty="0" smtClean="0"/>
              <a:t>• Generate business insights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7714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632966"/>
            <a:ext cx="9144000" cy="1466291"/>
          </a:xfrm>
        </p:spPr>
        <p:txBody>
          <a:bodyPr/>
          <a:lstStyle/>
          <a:p>
            <a:r>
              <a:rPr lang="en-US" dirty="0" smtClean="0"/>
              <a:t>DATASET DESCRIPTION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859109"/>
            <a:ext cx="9144000" cy="3760631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Dataset Used:</a:t>
            </a:r>
            <a:br>
              <a:rPr lang="en-US" dirty="0" smtClean="0"/>
            </a:br>
            <a:r>
              <a:rPr lang="en-US" dirty="0" smtClean="0"/>
              <a:t>Online Retail Dataset</a:t>
            </a:r>
          </a:p>
          <a:p>
            <a:r>
              <a:rPr lang="en-US" dirty="0" smtClean="0"/>
              <a:t>Dataset Features:</a:t>
            </a:r>
          </a:p>
          <a:p>
            <a:r>
              <a:rPr lang="en-US" dirty="0" smtClean="0"/>
              <a:t>• Invoice Number</a:t>
            </a:r>
            <a:br>
              <a:rPr lang="en-US" dirty="0" smtClean="0"/>
            </a:br>
            <a:r>
              <a:rPr lang="en-US" dirty="0" smtClean="0"/>
              <a:t>• Stock Code</a:t>
            </a:r>
            <a:br>
              <a:rPr lang="en-US" dirty="0" smtClean="0"/>
            </a:br>
            <a:r>
              <a:rPr lang="en-US" dirty="0" smtClean="0"/>
              <a:t>• Product Description</a:t>
            </a:r>
            <a:br>
              <a:rPr lang="en-US" dirty="0" smtClean="0"/>
            </a:br>
            <a:r>
              <a:rPr lang="en-US" dirty="0" smtClean="0"/>
              <a:t>• Quantity Purchased</a:t>
            </a:r>
            <a:br>
              <a:rPr lang="en-US" dirty="0" smtClean="0"/>
            </a:br>
            <a:r>
              <a:rPr lang="en-US" dirty="0" smtClean="0"/>
              <a:t>• Invoice Date</a:t>
            </a:r>
            <a:br>
              <a:rPr lang="en-US" dirty="0" smtClean="0"/>
            </a:br>
            <a:r>
              <a:rPr lang="en-US" dirty="0" smtClean="0"/>
              <a:t>• Unit Price</a:t>
            </a:r>
            <a:br>
              <a:rPr lang="en-US" dirty="0" smtClean="0"/>
            </a:br>
            <a:r>
              <a:rPr lang="en-US" dirty="0" smtClean="0"/>
              <a:t>• Customer ID</a:t>
            </a:r>
            <a:br>
              <a:rPr lang="en-US" dirty="0" smtClean="0"/>
            </a:br>
            <a:r>
              <a:rPr lang="en-US" dirty="0" smtClean="0"/>
              <a:t>• Country</a:t>
            </a:r>
          </a:p>
          <a:p>
            <a:r>
              <a:rPr lang="en-US" dirty="0" smtClean="0"/>
              <a:t>The dataset contains transaction records of customers from an online retail store.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9598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79924"/>
          </a:xfrm>
        </p:spPr>
        <p:txBody>
          <a:bodyPr/>
          <a:lstStyle/>
          <a:p>
            <a:r>
              <a:rPr lang="en-US" dirty="0" smtClean="0"/>
              <a:t>DATA PREPROCESSING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575775"/>
            <a:ext cx="9144000" cy="3760631"/>
          </a:xfrm>
        </p:spPr>
        <p:txBody>
          <a:bodyPr/>
          <a:lstStyle/>
          <a:p>
            <a:r>
              <a:rPr lang="en-US" dirty="0" smtClean="0"/>
              <a:t>The following preprocessing steps were performed: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Removed missing Customer IDs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Removed cancelled transactions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Removed negative quantities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Removed negative prices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Created Revenue variable</a:t>
            </a:r>
          </a:p>
          <a:p>
            <a:r>
              <a:rPr lang="en-US" dirty="0" smtClean="0"/>
              <a:t>Revenue = Quantity × Unit Price</a:t>
            </a:r>
          </a:p>
          <a:p>
            <a:r>
              <a:rPr lang="en-US" dirty="0" smtClean="0"/>
              <a:t>Data preprocessing improves data quality and model performance.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4498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28409"/>
          </a:xfrm>
        </p:spPr>
        <p:txBody>
          <a:bodyPr/>
          <a:lstStyle/>
          <a:p>
            <a:r>
              <a:rPr lang="en-US" dirty="0" smtClean="0"/>
              <a:t>FEATURE ENGINEERING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408349"/>
            <a:ext cx="9144000" cy="4043966"/>
          </a:xfrm>
        </p:spPr>
        <p:txBody>
          <a:bodyPr/>
          <a:lstStyle/>
          <a:p>
            <a:r>
              <a:rPr lang="en-US" dirty="0" smtClean="0"/>
              <a:t>Customer-level features were created:</a:t>
            </a:r>
          </a:p>
          <a:p>
            <a:r>
              <a:rPr lang="en-US" dirty="0" smtClean="0"/>
              <a:t>Frequency = Number of unique purchases</a:t>
            </a:r>
          </a:p>
          <a:p>
            <a:r>
              <a:rPr lang="en-US" dirty="0" smtClean="0"/>
              <a:t>Total Quantity = Total products purchased</a:t>
            </a:r>
          </a:p>
          <a:p>
            <a:r>
              <a:rPr lang="en-US" dirty="0" smtClean="0"/>
              <a:t>Average Order Value = Total Revenue / Frequency</a:t>
            </a:r>
          </a:p>
          <a:p>
            <a:r>
              <a:rPr lang="en-US" dirty="0" smtClean="0"/>
              <a:t>Customer Lifetime Value (CLV) = Total Revenue generated by each customer</a:t>
            </a:r>
          </a:p>
          <a:p>
            <a:r>
              <a:rPr lang="en-US" dirty="0" smtClean="0"/>
              <a:t>These features were used for model training.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5957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8977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MACHINE LEARNING MODEL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550017"/>
            <a:ext cx="9144000" cy="3966693"/>
          </a:xfrm>
        </p:spPr>
        <p:txBody>
          <a:bodyPr/>
          <a:lstStyle/>
          <a:p>
            <a:r>
              <a:rPr lang="en-US" dirty="0" smtClean="0"/>
              <a:t>Algorithm Used:</a:t>
            </a:r>
            <a:br>
              <a:rPr lang="en-US" dirty="0" smtClean="0"/>
            </a:br>
            <a:r>
              <a:rPr lang="en-US" dirty="0" smtClean="0"/>
              <a:t>Random Forest Regression</a:t>
            </a:r>
          </a:p>
          <a:p>
            <a:r>
              <a:rPr lang="en-US" dirty="0" smtClean="0"/>
              <a:t>Why Random Forest?</a:t>
            </a:r>
          </a:p>
          <a:p>
            <a:r>
              <a:rPr lang="en-US" dirty="0" smtClean="0"/>
              <a:t>• High prediction accuracy</a:t>
            </a:r>
            <a:br>
              <a:rPr lang="en-US" dirty="0" smtClean="0"/>
            </a:br>
            <a:r>
              <a:rPr lang="en-US" dirty="0" smtClean="0"/>
              <a:t>• Handles nonlinear relationships</a:t>
            </a:r>
            <a:br>
              <a:rPr lang="en-US" dirty="0" smtClean="0"/>
            </a:br>
            <a:r>
              <a:rPr lang="en-US" dirty="0" smtClean="0"/>
              <a:t>• Reduces </a:t>
            </a:r>
            <a:r>
              <a:rPr lang="en-US" dirty="0" err="1" smtClean="0"/>
              <a:t>overfitting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• Works well on real-world datasets</a:t>
            </a:r>
            <a:br>
              <a:rPr lang="en-US" dirty="0" smtClean="0"/>
            </a:br>
            <a:r>
              <a:rPr lang="en-US" dirty="0" smtClean="0"/>
              <a:t>• Provides feature importance information</a:t>
            </a:r>
          </a:p>
          <a:p>
            <a:r>
              <a:rPr lang="en-US" dirty="0" smtClean="0"/>
              <a:t>The model was trained using customer purchasing behavior.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7672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8674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MODEL TRAINING PROCESS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331075"/>
            <a:ext cx="9144000" cy="4146997"/>
          </a:xfrm>
        </p:spPr>
        <p:txBody>
          <a:bodyPr>
            <a:normAutofit/>
          </a:bodyPr>
          <a:lstStyle/>
          <a:p>
            <a:r>
              <a:rPr lang="en-US" dirty="0" smtClean="0"/>
              <a:t>Steps Followed: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Feature Selection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Train-Test Split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Model Training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Prediction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Performance Evaluation</a:t>
            </a:r>
          </a:p>
          <a:p>
            <a:r>
              <a:rPr lang="en-US" dirty="0" smtClean="0"/>
              <a:t>Training Data:</a:t>
            </a:r>
            <a:br>
              <a:rPr lang="en-US" dirty="0" smtClean="0"/>
            </a:br>
            <a:r>
              <a:rPr lang="en-US" dirty="0" smtClean="0"/>
              <a:t>80%</a:t>
            </a:r>
          </a:p>
          <a:p>
            <a:r>
              <a:rPr lang="en-US" dirty="0" smtClean="0"/>
              <a:t>Testing Data:</a:t>
            </a:r>
            <a:br>
              <a:rPr lang="en-US" dirty="0" smtClean="0"/>
            </a:br>
            <a:r>
              <a:rPr lang="en-US" dirty="0" smtClean="0"/>
              <a:t>20%</a:t>
            </a:r>
          </a:p>
          <a:p>
            <a:r>
              <a:rPr lang="en-US" dirty="0" smtClean="0"/>
              <a:t>The model learns patterns from historical customer transactions.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4534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75795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MODEL EVALUATION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266682"/>
            <a:ext cx="9144000" cy="3953814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Evaluation Metrics Used: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Mean Absolute Error (MAE)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Root Mean Squared Error (RMSE)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R² Score</a:t>
            </a:r>
          </a:p>
          <a:p>
            <a:r>
              <a:rPr lang="en-US" dirty="0" smtClean="0"/>
              <a:t>Results:</a:t>
            </a:r>
          </a:p>
          <a:p>
            <a:r>
              <a:rPr lang="en-US" dirty="0" smtClean="0"/>
              <a:t>MAE = 454.31</a:t>
            </a:r>
          </a:p>
          <a:p>
            <a:r>
              <a:rPr lang="en-US" dirty="0" smtClean="0"/>
              <a:t>RMSE = 5091.47</a:t>
            </a:r>
          </a:p>
          <a:p>
            <a:r>
              <a:rPr lang="en-US" dirty="0" smtClean="0"/>
              <a:t>R² Score = 0.747</a:t>
            </a:r>
          </a:p>
          <a:p>
            <a:r>
              <a:rPr lang="en-US" dirty="0" smtClean="0"/>
              <a:t>Interpretation:</a:t>
            </a:r>
          </a:p>
          <a:p>
            <a:r>
              <a:rPr lang="en-US" dirty="0" smtClean="0"/>
              <a:t>The model explains approximately 75% of the variation in Customer Lifetime Value.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18835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4810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FEATURE IMPORTANCE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356833"/>
            <a:ext cx="9144000" cy="4005329"/>
          </a:xfrm>
        </p:spPr>
        <p:txBody>
          <a:bodyPr/>
          <a:lstStyle/>
          <a:p>
            <a:pPr algn="l"/>
            <a:r>
              <a:rPr lang="en-US" dirty="0" smtClean="0"/>
              <a:t>The graph shows which </a:t>
            </a:r>
          </a:p>
          <a:p>
            <a:pPr algn="l"/>
            <a:r>
              <a:rPr lang="en-US" dirty="0" smtClean="0"/>
              <a:t>customer characteristics </a:t>
            </a:r>
          </a:p>
          <a:p>
            <a:pPr algn="l"/>
            <a:r>
              <a:rPr lang="en-US" dirty="0" smtClean="0"/>
              <a:t>contribute most to CLV</a:t>
            </a:r>
          </a:p>
          <a:p>
            <a:pPr algn="l"/>
            <a:r>
              <a:rPr lang="en-US" dirty="0" smtClean="0"/>
              <a:t> prediction.</a:t>
            </a:r>
          </a:p>
          <a:p>
            <a:pPr algn="l"/>
            <a:endParaRPr lang="en-US" dirty="0" smtClean="0"/>
          </a:p>
          <a:p>
            <a:pPr algn="l"/>
            <a:r>
              <a:rPr lang="en-US" dirty="0" smtClean="0"/>
              <a:t>Features with higher</a:t>
            </a:r>
          </a:p>
          <a:p>
            <a:pPr algn="l"/>
            <a:r>
              <a:rPr lang="en-US" dirty="0" smtClean="0"/>
              <a:t> importance have greater</a:t>
            </a:r>
          </a:p>
          <a:p>
            <a:pPr algn="l"/>
            <a:r>
              <a:rPr lang="en-US" dirty="0" smtClean="0"/>
              <a:t> influence on customer value.</a:t>
            </a:r>
          </a:p>
          <a:p>
            <a:pPr algn="l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1753" y="2112135"/>
            <a:ext cx="6430272" cy="4250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746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5113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ACTUAL VS PREDICTED VALUES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266682"/>
            <a:ext cx="9144000" cy="4250028"/>
          </a:xfrm>
        </p:spPr>
        <p:txBody>
          <a:bodyPr/>
          <a:lstStyle/>
          <a:p>
            <a:pPr algn="l"/>
            <a:r>
              <a:rPr lang="en-US" dirty="0" smtClean="0"/>
              <a:t>• Points close to the diagonal </a:t>
            </a:r>
          </a:p>
          <a:p>
            <a:pPr algn="l"/>
            <a:r>
              <a:rPr lang="en-US" dirty="0" smtClean="0"/>
              <a:t>    indicate accurate predictions.</a:t>
            </a:r>
          </a:p>
          <a:p>
            <a:pPr algn="l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• The graph demonstrates </a:t>
            </a:r>
          </a:p>
          <a:p>
            <a:pPr algn="l"/>
            <a:r>
              <a:rPr lang="en-US" dirty="0" smtClean="0"/>
              <a:t>    the effectiveness of the </a:t>
            </a:r>
          </a:p>
          <a:p>
            <a:pPr algn="l"/>
            <a:r>
              <a:rPr lang="en-US" dirty="0" smtClean="0"/>
              <a:t>    </a:t>
            </a:r>
            <a:r>
              <a:rPr lang="en-US" dirty="0" err="1" smtClean="0"/>
              <a:t>RandomForest</a:t>
            </a:r>
            <a:r>
              <a:rPr lang="en-US" dirty="0" smtClean="0"/>
              <a:t> model.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4130" y="2266683"/>
            <a:ext cx="4833870" cy="4250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8947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76893"/>
          </a:xfrm>
        </p:spPr>
        <p:txBody>
          <a:bodyPr/>
          <a:lstStyle/>
          <a:p>
            <a:r>
              <a:rPr lang="en-US" dirty="0" smtClean="0"/>
              <a:t>RESIDUAL ANALYSIS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382592"/>
            <a:ext cx="9144000" cy="4288664"/>
          </a:xfrm>
        </p:spPr>
        <p:txBody>
          <a:bodyPr/>
          <a:lstStyle/>
          <a:p>
            <a:pPr algn="l"/>
            <a:r>
              <a:rPr lang="en-US" dirty="0" smtClean="0"/>
              <a:t>• Residuals represent prediction</a:t>
            </a:r>
          </a:p>
          <a:p>
            <a:pPr algn="l"/>
            <a:r>
              <a:rPr lang="en-US" dirty="0"/>
              <a:t> </a:t>
            </a:r>
            <a:r>
              <a:rPr lang="en-US" dirty="0" smtClean="0"/>
              <a:t>   errors.</a:t>
            </a:r>
          </a:p>
          <a:p>
            <a:pPr algn="l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• Most residuals are concentrated </a:t>
            </a:r>
          </a:p>
          <a:p>
            <a:pPr algn="l"/>
            <a:r>
              <a:rPr lang="en-US" dirty="0"/>
              <a:t> </a:t>
            </a:r>
            <a:r>
              <a:rPr lang="en-US" dirty="0" smtClean="0"/>
              <a:t>  around zero.</a:t>
            </a:r>
          </a:p>
          <a:p>
            <a:pPr algn="l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• This indicates reasonable model </a:t>
            </a:r>
          </a:p>
          <a:p>
            <a:pPr algn="l"/>
            <a:r>
              <a:rPr lang="en-US" dirty="0"/>
              <a:t> </a:t>
            </a:r>
            <a:r>
              <a:rPr lang="en-US" dirty="0" smtClean="0"/>
              <a:t>   performance.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382592"/>
            <a:ext cx="4780923" cy="428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5064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738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BUSINESS INSIGHTS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266681"/>
            <a:ext cx="9144000" cy="4185633"/>
          </a:xfrm>
        </p:spPr>
        <p:txBody>
          <a:bodyPr/>
          <a:lstStyle/>
          <a:p>
            <a:r>
              <a:rPr lang="en-US" dirty="0" smtClean="0"/>
              <a:t>Key Insights:</a:t>
            </a:r>
          </a:p>
          <a:p>
            <a:r>
              <a:rPr lang="en-US" dirty="0" smtClean="0"/>
              <a:t>• Customers with higher purchase frequency tend to generate greater revenue.</a:t>
            </a:r>
            <a:br>
              <a:rPr lang="en-US" dirty="0" smtClean="0"/>
            </a:br>
            <a:r>
              <a:rPr lang="en-US" dirty="0" smtClean="0"/>
              <a:t>• Average order value significantly affects CLV.</a:t>
            </a:r>
            <a:br>
              <a:rPr lang="en-US" dirty="0" smtClean="0"/>
            </a:br>
            <a:r>
              <a:rPr lang="en-US" dirty="0" smtClean="0"/>
              <a:t>• High-value customers should be prioritized for retention programs.</a:t>
            </a:r>
            <a:br>
              <a:rPr lang="en-US" dirty="0" smtClean="0"/>
            </a:br>
            <a:r>
              <a:rPr lang="en-US" dirty="0" smtClean="0"/>
              <a:t>• CLV prediction helps improve marketing efficiency.</a:t>
            </a:r>
            <a:br>
              <a:rPr lang="en-US" dirty="0" smtClean="0"/>
            </a:br>
            <a:r>
              <a:rPr lang="en-US" dirty="0" smtClean="0"/>
              <a:t>• Businesses can forecast future revenue more accurately.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0019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51136"/>
          </a:xfrm>
        </p:spPr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292439"/>
            <a:ext cx="9144000" cy="4134119"/>
          </a:xfrm>
        </p:spPr>
        <p:txBody>
          <a:bodyPr/>
          <a:lstStyle/>
          <a:p>
            <a:r>
              <a:rPr lang="en-US" dirty="0" smtClean="0"/>
              <a:t>• Customer Lifetime Value was successfully predicted using Machine Learning.</a:t>
            </a:r>
            <a:br>
              <a:rPr lang="en-US" dirty="0" smtClean="0"/>
            </a:br>
            <a:r>
              <a:rPr lang="en-US" dirty="0" smtClean="0"/>
              <a:t>• Random Forest Regression achieved good predictive performance.</a:t>
            </a:r>
            <a:br>
              <a:rPr lang="en-US" dirty="0" smtClean="0"/>
            </a:br>
            <a:r>
              <a:rPr lang="en-US" dirty="0" smtClean="0"/>
              <a:t>• The model can help businesses identify valuable customers.</a:t>
            </a:r>
            <a:br>
              <a:rPr lang="en-US" dirty="0" smtClean="0"/>
            </a:br>
            <a:r>
              <a:rPr lang="en-US" dirty="0" smtClean="0"/>
              <a:t>• CLV prediction supports customer retention and marketing decisions.</a:t>
            </a:r>
            <a:br>
              <a:rPr lang="en-US" dirty="0" smtClean="0"/>
            </a:br>
            <a:r>
              <a:rPr lang="en-US" dirty="0" smtClean="0"/>
              <a:t>• The project demonstrates the practical application of Machine Learning in business analytics.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9568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C333A"/>
      </a:dk2>
      <a:lt2>
        <a:srgbClr val="D6ECED"/>
      </a:lt2>
      <a:accent1>
        <a:srgbClr val="DE32DE"/>
      </a:accent1>
      <a:accent2>
        <a:srgbClr val="F42B8A"/>
      </a:accent2>
      <a:accent3>
        <a:srgbClr val="349FE7"/>
      </a:accent3>
      <a:accent4>
        <a:srgbClr val="565FF8"/>
      </a:accent4>
      <a:accent5>
        <a:srgbClr val="876BE7"/>
      </a:accent5>
      <a:accent6>
        <a:srgbClr val="F268C2"/>
      </a:accent6>
      <a:hlink>
        <a:srgbClr val="F55CF9"/>
      </a:hlink>
      <a:folHlink>
        <a:srgbClr val="E8A0EE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35</TotalTime>
  <Words>334</Words>
  <Application>Microsoft Office PowerPoint</Application>
  <PresentationFormat>Widescreen</PresentationFormat>
  <Paragraphs>91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Century Gothic</vt:lpstr>
      <vt:lpstr>Wingdings 3</vt:lpstr>
      <vt:lpstr>Wisp</vt:lpstr>
      <vt:lpstr>Customer Lifetime Value Prediction Using Machine Learning</vt:lpstr>
      <vt:lpstr>INTRODUCTION</vt:lpstr>
      <vt:lpstr>PROBLEM STATEMENT</vt:lpstr>
      <vt:lpstr>PROJECT OBJECTIVES</vt:lpstr>
      <vt:lpstr>DATASET DESCRIPTION</vt:lpstr>
      <vt:lpstr>DATA PREPROCESSING</vt:lpstr>
      <vt:lpstr>FEATURE ENGINEERING</vt:lpstr>
      <vt:lpstr>MACHINE LEARNING MODEL</vt:lpstr>
      <vt:lpstr>MODEL TRAINING PROCESS</vt:lpstr>
      <vt:lpstr>MODEL EVALUATION</vt:lpstr>
      <vt:lpstr>FEATURE IMPORTANCE</vt:lpstr>
      <vt:lpstr>ACTUAL VS PREDICTED VALUES</vt:lpstr>
      <vt:lpstr>RESIDUAL ANALYSIS</vt:lpstr>
      <vt:lpstr>BUSINESS INSIGHTS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Lifetime Value Prediction Using Machine Learning</dc:title>
  <dc:creator>USER</dc:creator>
  <cp:lastModifiedBy>USER</cp:lastModifiedBy>
  <cp:revision>4</cp:revision>
  <dcterms:created xsi:type="dcterms:W3CDTF">2026-06-05T18:32:23Z</dcterms:created>
  <dcterms:modified xsi:type="dcterms:W3CDTF">2026-06-05T19:08:16Z</dcterms:modified>
</cp:coreProperties>
</file>