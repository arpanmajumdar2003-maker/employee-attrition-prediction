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5" r:id="rId2"/>
    <p:sldId id="310" r:id="rId3"/>
    <p:sldId id="311" r:id="rId4"/>
    <p:sldId id="313" r:id="rId5"/>
    <p:sldId id="312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</p:sldIdLst>
  <p:sldSz cx="12188825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29" autoAdjust="0"/>
  </p:normalViewPr>
  <p:slideViewPr>
    <p:cSldViewPr showGuides="1">
      <p:cViewPr varScale="1">
        <p:scale>
          <a:sx n="74" d="100"/>
          <a:sy n="74" d="100"/>
        </p:scale>
        <p:origin x="582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06-Jun-26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06-Jun-26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06-Jun-26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06-Jun-26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06-Jun-26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Employee Attrition Prediction for HR Using Machine Learning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5213" y="3200400"/>
            <a:ext cx="8229600" cy="3352800"/>
          </a:xfrm>
        </p:spPr>
        <p:txBody>
          <a:bodyPr/>
          <a:lstStyle/>
          <a:p>
            <a:r>
              <a:rPr lang="en-US" b="1" dirty="0"/>
              <a:t>Submitted By</a:t>
            </a:r>
          </a:p>
          <a:p>
            <a:r>
              <a:rPr lang="en-US" dirty="0" err="1" smtClean="0"/>
              <a:t>ARPan</a:t>
            </a:r>
            <a:r>
              <a:rPr lang="en-US" dirty="0" smtClean="0"/>
              <a:t> </a:t>
            </a:r>
            <a:r>
              <a:rPr lang="en-US" dirty="0" err="1"/>
              <a:t>Majumdar</a:t>
            </a:r>
            <a:endParaRPr lang="en-US" dirty="0"/>
          </a:p>
          <a:p>
            <a:r>
              <a:rPr lang="en-US" b="1" dirty="0"/>
              <a:t>Internship Project</a:t>
            </a:r>
          </a:p>
          <a:p>
            <a:r>
              <a:rPr lang="en-US" b="1" dirty="0"/>
              <a:t>Technologies Used</a:t>
            </a:r>
          </a:p>
          <a:p>
            <a:r>
              <a:rPr lang="en-US" dirty="0"/>
              <a:t>Python | Machine Learning | Random Forest |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8920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Employee attrition refers to employees leaving an organization either voluntarily or involuntarily.</a:t>
            </a:r>
          </a:p>
          <a:p>
            <a:r>
              <a:rPr lang="en-US" dirty="0"/>
              <a:t>High attrition rates increase recruitment costs, reduce productivity, and impact organizational performance.</a:t>
            </a:r>
          </a:p>
          <a:p>
            <a:r>
              <a:rPr lang="en-US" dirty="0"/>
              <a:t>Machine learning can help predict employee attrition and assist HR departments in improving employee retention.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132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2413" y="1904999"/>
            <a:ext cx="9134391" cy="4495801"/>
          </a:xfrm>
        </p:spPr>
        <p:txBody>
          <a:bodyPr/>
          <a:lstStyle/>
          <a:p>
            <a:r>
              <a:rPr lang="en-US" dirty="0"/>
              <a:t>Organizations often struggle to identify employees who are likely to leave.</a:t>
            </a:r>
          </a:p>
          <a:p>
            <a:r>
              <a:rPr lang="en-US" dirty="0"/>
              <a:t>Unexpected employee turnover leads to:</a:t>
            </a:r>
          </a:p>
          <a:p>
            <a:r>
              <a:rPr lang="en-US" dirty="0"/>
              <a:t>Increased hiring costs </a:t>
            </a:r>
          </a:p>
          <a:p>
            <a:r>
              <a:rPr lang="en-US" dirty="0"/>
              <a:t>Loss of skilled employees </a:t>
            </a:r>
          </a:p>
          <a:p>
            <a:r>
              <a:rPr lang="en-US" dirty="0"/>
              <a:t>Reduced productivity </a:t>
            </a:r>
          </a:p>
          <a:p>
            <a:r>
              <a:rPr lang="en-US" dirty="0"/>
              <a:t>This project aims to predict employee attrition using machine learning techniques.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206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8628231" cy="4114800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Analyze employee data </a:t>
            </a:r>
          </a:p>
          <a:p>
            <a:r>
              <a:rPr lang="en-US" dirty="0"/>
              <a:t>Predict employee attrition </a:t>
            </a:r>
          </a:p>
          <a:p>
            <a:r>
              <a:rPr lang="en-US" dirty="0"/>
              <a:t>Identify important factors affecting attrition </a:t>
            </a:r>
          </a:p>
          <a:p>
            <a:r>
              <a:rPr lang="en-US" dirty="0"/>
              <a:t>Improve employee retention strategies </a:t>
            </a:r>
          </a:p>
          <a:p>
            <a:r>
              <a:rPr lang="en-US" dirty="0"/>
              <a:t>Support HR decision-making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988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838200"/>
          </a:xfrm>
        </p:spPr>
        <p:txBody>
          <a:bodyPr/>
          <a:lstStyle/>
          <a:p>
            <a:r>
              <a:rPr lang="en-US" dirty="0"/>
              <a:t>Dataset Description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522413" y="1371600"/>
            <a:ext cx="9134391" cy="5257799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Dataset Used</a:t>
            </a:r>
          </a:p>
          <a:p>
            <a:r>
              <a:rPr lang="en-US" b="1" dirty="0"/>
              <a:t>IBM HR Analytics Employee Attrition Dataset</a:t>
            </a:r>
          </a:p>
          <a:p>
            <a:pPr marL="0" indent="0">
              <a:buNone/>
            </a:pPr>
            <a:r>
              <a:rPr lang="en-US" dirty="0"/>
              <a:t>Dataset includes:</a:t>
            </a:r>
          </a:p>
          <a:p>
            <a:r>
              <a:rPr lang="en-US" dirty="0"/>
              <a:t>Age </a:t>
            </a:r>
          </a:p>
          <a:p>
            <a:r>
              <a:rPr lang="en-US" dirty="0" smtClean="0"/>
              <a:t>Gender </a:t>
            </a:r>
            <a:endParaRPr lang="en-US" dirty="0"/>
          </a:p>
          <a:p>
            <a:r>
              <a:rPr lang="en-US" dirty="0"/>
              <a:t>Education </a:t>
            </a:r>
          </a:p>
          <a:p>
            <a:r>
              <a:rPr lang="en-US" dirty="0"/>
              <a:t>Job Role </a:t>
            </a:r>
          </a:p>
          <a:p>
            <a:r>
              <a:rPr lang="en-US" dirty="0" smtClean="0"/>
              <a:t>Monthly Income </a:t>
            </a:r>
          </a:p>
          <a:p>
            <a:r>
              <a:rPr lang="en-US" dirty="0" smtClean="0"/>
              <a:t>Overtime </a:t>
            </a:r>
          </a:p>
          <a:p>
            <a:r>
              <a:rPr lang="en-US" dirty="0" smtClean="0"/>
              <a:t>Job Satisfaction </a:t>
            </a:r>
          </a:p>
          <a:p>
            <a:r>
              <a:rPr lang="en-US" dirty="0" smtClean="0"/>
              <a:t>Work-Life Balance </a:t>
            </a:r>
          </a:p>
          <a:p>
            <a:r>
              <a:rPr lang="en-US" dirty="0" smtClean="0"/>
              <a:t>Attrition Status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238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2" y="457200"/>
            <a:ext cx="8692399" cy="1219200"/>
          </a:xfrm>
        </p:spPr>
        <p:txBody>
          <a:bodyPr/>
          <a:lstStyle/>
          <a:p>
            <a:r>
              <a:rPr lang="en-US" dirty="0"/>
              <a:t>Technologies Used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24610" y="2209800"/>
            <a:ext cx="366478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</a:t>
            </a:r>
          </a:p>
        </p:txBody>
      </p:sp>
    </p:spTree>
    <p:extLst>
      <p:ext uri="{BB962C8B-B14F-4D97-AF65-F5344CB8AC3E}">
        <p14:creationId xmlns:p14="http://schemas.microsoft.com/office/powerpoint/2010/main" val="2478160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286000"/>
            <a:ext cx="4416552" cy="3733801"/>
          </a:xfrm>
        </p:spPr>
        <p:txBody>
          <a:bodyPr/>
          <a:lstStyle/>
          <a:p>
            <a:r>
              <a:rPr lang="en-US" b="1" dirty="0"/>
              <a:t>Step 1</a:t>
            </a:r>
          </a:p>
          <a:p>
            <a:pPr marL="0" indent="0">
              <a:buNone/>
            </a:pPr>
            <a:r>
              <a:rPr lang="en-US" dirty="0" smtClean="0"/>
              <a:t>   Data </a:t>
            </a:r>
            <a:r>
              <a:rPr lang="en-US" dirty="0"/>
              <a:t>Collection</a:t>
            </a:r>
          </a:p>
          <a:p>
            <a:r>
              <a:rPr lang="en-US" b="1" dirty="0"/>
              <a:t>Step </a:t>
            </a:r>
            <a:r>
              <a:rPr lang="en-US" b="1" dirty="0" smtClean="0"/>
              <a:t>2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  <a:r>
              <a:rPr lang="en-US" dirty="0" smtClean="0"/>
              <a:t>Data </a:t>
            </a:r>
            <a:r>
              <a:rPr lang="en-US" dirty="0"/>
              <a:t>Preprocessing</a:t>
            </a:r>
          </a:p>
          <a:p>
            <a:r>
              <a:rPr lang="en-US" b="1" dirty="0"/>
              <a:t>Step 3</a:t>
            </a:r>
          </a:p>
          <a:p>
            <a:pPr marL="0" indent="0">
              <a:buNone/>
            </a:pPr>
            <a:r>
              <a:rPr lang="en-US" dirty="0" smtClean="0"/>
              <a:t>   Exploratory </a:t>
            </a:r>
            <a:r>
              <a:rPr lang="en-US" dirty="0"/>
              <a:t>Data Analysis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286000"/>
            <a:ext cx="4416552" cy="3733801"/>
          </a:xfrm>
        </p:spPr>
        <p:txBody>
          <a:bodyPr/>
          <a:lstStyle/>
          <a:p>
            <a:r>
              <a:rPr lang="en-US" b="1" dirty="0"/>
              <a:t>Step 4</a:t>
            </a:r>
          </a:p>
          <a:p>
            <a:pPr marL="0" indent="0">
              <a:buNone/>
            </a:pPr>
            <a:r>
              <a:rPr lang="en-US" dirty="0" smtClean="0"/>
              <a:t>    Feature </a:t>
            </a:r>
            <a:r>
              <a:rPr lang="en-US" dirty="0"/>
              <a:t>Encoding</a:t>
            </a:r>
          </a:p>
          <a:p>
            <a:r>
              <a:rPr lang="en-US" b="1" dirty="0"/>
              <a:t>Step 5</a:t>
            </a:r>
          </a:p>
          <a:p>
            <a:pPr marL="0" indent="0">
              <a:buNone/>
            </a:pPr>
            <a:r>
              <a:rPr lang="en-US" dirty="0" smtClean="0"/>
              <a:t>    Model </a:t>
            </a:r>
            <a:r>
              <a:rPr lang="en-US" dirty="0"/>
              <a:t>Training</a:t>
            </a:r>
          </a:p>
          <a:p>
            <a:r>
              <a:rPr lang="en-US" b="1" dirty="0"/>
              <a:t>Step 6</a:t>
            </a:r>
          </a:p>
          <a:p>
            <a:pPr marL="0" indent="0">
              <a:buNone/>
            </a:pPr>
            <a:r>
              <a:rPr lang="en-US" dirty="0" smtClean="0"/>
              <a:t>    Prediction </a:t>
            </a:r>
            <a:r>
              <a:rPr lang="en-US" dirty="0"/>
              <a:t>&amp;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25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609600"/>
            <a:ext cx="8229600" cy="1752600"/>
          </a:xfrm>
        </p:spPr>
        <p:txBody>
          <a:bodyPr/>
          <a:lstStyle/>
          <a:p>
            <a:r>
              <a:rPr lang="en-US" dirty="0"/>
              <a:t>Machine Learning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2667000"/>
            <a:ext cx="8229600" cy="3352800"/>
          </a:xfrm>
        </p:spPr>
        <p:txBody>
          <a:bodyPr/>
          <a:lstStyle/>
          <a:p>
            <a:r>
              <a:rPr lang="en-US" b="1" dirty="0"/>
              <a:t>Random Forest </a:t>
            </a:r>
            <a:r>
              <a:rPr lang="en-US" b="1" dirty="0" smtClean="0"/>
              <a:t>Classifier</a:t>
            </a:r>
          </a:p>
          <a:p>
            <a:endParaRPr lang="en-US" b="1" dirty="0"/>
          </a:p>
          <a:p>
            <a:r>
              <a:rPr lang="en-US" b="1" dirty="0"/>
              <a:t>Why Random Forest</a:t>
            </a:r>
            <a:r>
              <a:rPr lang="en-US" b="1" dirty="0" smtClean="0"/>
              <a:t>?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Handles Large Datasets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Reduces </a:t>
            </a:r>
            <a:r>
              <a:rPr lang="en-US" dirty="0" err="1"/>
              <a:t>Overfitting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Suitable for Classification Problems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model was trained to predict employee attrition.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569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Employee </a:t>
            </a:r>
            <a:r>
              <a:rPr lang="en-US" dirty="0"/>
              <a:t>Attrition </a:t>
            </a:r>
            <a:r>
              <a:rPr lang="en-US" dirty="0" smtClean="0"/>
              <a:t>Distribution</a:t>
            </a:r>
          </a:p>
          <a:p>
            <a:r>
              <a:rPr lang="en-US" dirty="0" smtClean="0"/>
              <a:t>The </a:t>
            </a:r>
            <a:r>
              <a:rPr lang="en-US" dirty="0"/>
              <a:t>graph shows the number of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employees </a:t>
            </a:r>
            <a:r>
              <a:rPr lang="en-US" dirty="0"/>
              <a:t>who stayed and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those who </a:t>
            </a:r>
            <a:r>
              <a:rPr lang="en-US" dirty="0"/>
              <a:t>left the company.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811" y="1904998"/>
            <a:ext cx="4439479" cy="398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183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Performance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65213" y="3244959"/>
            <a:ext cx="392716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Achieved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86.73%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378" y="2819400"/>
            <a:ext cx="6131234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263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3" y="990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Confusion Matrix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2133600"/>
            <a:ext cx="8229600" cy="38862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confusion matrix </a:t>
            </a:r>
            <a:endParaRPr lang="en-US" dirty="0" smtClean="0"/>
          </a:p>
          <a:p>
            <a:r>
              <a:rPr lang="en-US" dirty="0" smtClean="0"/>
              <a:t>compares </a:t>
            </a:r>
            <a:r>
              <a:rPr lang="en-US" dirty="0"/>
              <a:t>actual </a:t>
            </a:r>
            <a:r>
              <a:rPr lang="en-US" dirty="0" smtClean="0"/>
              <a:t>employee</a:t>
            </a:r>
          </a:p>
          <a:p>
            <a:r>
              <a:rPr lang="en-US" dirty="0" smtClean="0"/>
              <a:t> </a:t>
            </a:r>
            <a:r>
              <a:rPr lang="en-US" dirty="0"/>
              <a:t>attrition with predicted </a:t>
            </a:r>
            <a:endParaRPr lang="en-US" dirty="0" smtClean="0"/>
          </a:p>
          <a:p>
            <a:r>
              <a:rPr lang="en-US" dirty="0" smtClean="0"/>
              <a:t>attrition </a:t>
            </a:r>
            <a:r>
              <a:rPr lang="en-US" dirty="0"/>
              <a:t>and helps </a:t>
            </a:r>
            <a:r>
              <a:rPr lang="en-US" dirty="0" smtClean="0"/>
              <a:t>evaluate</a:t>
            </a:r>
          </a:p>
          <a:p>
            <a:r>
              <a:rPr lang="en-US" dirty="0" smtClean="0"/>
              <a:t> </a:t>
            </a:r>
            <a:r>
              <a:rPr lang="en-US" dirty="0"/>
              <a:t>model performance.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412" y="2107842"/>
            <a:ext cx="5487166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45" y="533400"/>
            <a:ext cx="8229600" cy="914400"/>
          </a:xfrm>
        </p:spPr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1600200"/>
            <a:ext cx="8229600" cy="44196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Top </a:t>
            </a:r>
            <a:r>
              <a:rPr lang="en-US" dirty="0"/>
              <a:t>Features Affecting </a:t>
            </a:r>
            <a:endParaRPr lang="en-US" dirty="0" smtClean="0"/>
          </a:p>
          <a:p>
            <a:r>
              <a:rPr lang="en-US" dirty="0" smtClean="0"/>
              <a:t>Attrition</a:t>
            </a:r>
          </a:p>
          <a:p>
            <a:endParaRPr lang="en-US" dirty="0"/>
          </a:p>
          <a:p>
            <a:r>
              <a:rPr lang="en-US" dirty="0"/>
              <a:t>Important Factors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Overtime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Monthly Income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Job Role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Years at Company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Job Satisfaction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12" y="1600199"/>
            <a:ext cx="6230028" cy="440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43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3" y="4572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Prediction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79724" y="1447800"/>
            <a:ext cx="768672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Result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Output: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Employee is likely to leave the company.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12" y="3124200"/>
            <a:ext cx="8001000" cy="32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628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3" y="838200"/>
            <a:ext cx="8229600" cy="990600"/>
          </a:xfrm>
        </p:spPr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2209800"/>
            <a:ext cx="8229600" cy="3810000"/>
          </a:xfrm>
        </p:spPr>
        <p:txBody>
          <a:bodyPr/>
          <a:lstStyle/>
          <a:p>
            <a:r>
              <a:rPr lang="en-US" sz="3200" b="1" dirty="0"/>
              <a:t>Advantages of the </a:t>
            </a:r>
            <a:r>
              <a:rPr lang="en-US" sz="3200" b="1" dirty="0" smtClean="0"/>
              <a:t>Project</a:t>
            </a:r>
          </a:p>
          <a:p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Improves employee retention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Reduces hiring costs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Supports HR planning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Data-driven decision making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Predicts employee turnover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9554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3" y="609600"/>
            <a:ext cx="8229600" cy="9906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2057400"/>
            <a:ext cx="8229600" cy="3962400"/>
          </a:xfrm>
        </p:spPr>
        <p:txBody>
          <a:bodyPr>
            <a:normAutofit/>
          </a:bodyPr>
          <a:lstStyle/>
          <a:p>
            <a:r>
              <a:rPr lang="en-US" sz="2800" dirty="0"/>
              <a:t>The Employee Attrition Prediction model successfully predicts employee turnover using machine learning.</a:t>
            </a:r>
          </a:p>
          <a:p>
            <a:r>
              <a:rPr lang="en-US" sz="2800" dirty="0"/>
              <a:t>The Random Forest Classifier achieved an accuracy of 86.73% and can assist organizations in identifying employees who are likely to leave.</a:t>
            </a:r>
          </a:p>
          <a:p>
            <a:r>
              <a:rPr lang="en-US" sz="2800" dirty="0"/>
              <a:t>This helps HR departments implement proactive retention strategies.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29875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5000">
        <p:fade/>
      </p:transition>
    </mc:Choice>
    <mc:Fallback>
      <p:transition spd="med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47</TotalTime>
  <Words>382</Words>
  <Application>Microsoft Office PowerPoint</Application>
  <PresentationFormat>Custom</PresentationFormat>
  <Paragraphs>119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 Unicode MS</vt:lpstr>
      <vt:lpstr>Arial</vt:lpstr>
      <vt:lpstr>Corbel</vt:lpstr>
      <vt:lpstr>Digital Blue Tunnel 16x9</vt:lpstr>
      <vt:lpstr>Employee Attrition Prediction for HR Using Machine Learning</vt:lpstr>
      <vt:lpstr>Introduction</vt:lpstr>
      <vt:lpstr>Problem Statement</vt:lpstr>
      <vt:lpstr>Objectives</vt:lpstr>
      <vt:lpstr>Dataset Description</vt:lpstr>
      <vt:lpstr>Technologies Used</vt:lpstr>
      <vt:lpstr>Methodology</vt:lpstr>
      <vt:lpstr>Machine Learning Algorithm</vt:lpstr>
      <vt:lpstr>Data Visualization</vt:lpstr>
      <vt:lpstr>Model Performance</vt:lpstr>
      <vt:lpstr>Confusion Matrix</vt:lpstr>
      <vt:lpstr>Feature Importance</vt:lpstr>
      <vt:lpstr>Final Prediction</vt:lpstr>
      <vt:lpstr>Advantages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Prediction for HR Using Machine Learning</dc:title>
  <dc:creator>USER</dc:creator>
  <cp:lastModifiedBy>USER</cp:lastModifiedBy>
  <cp:revision>5</cp:revision>
  <dcterms:created xsi:type="dcterms:W3CDTF">2026-06-06T12:49:25Z</dcterms:created>
  <dcterms:modified xsi:type="dcterms:W3CDTF">2026-06-06T13:36:44Z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